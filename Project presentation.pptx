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0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4" r:id="rId9"/>
    <p:sldId id="291" r:id="rId10"/>
    <p:sldId id="262" r:id="rId11"/>
    <p:sldId id="264" r:id="rId12"/>
    <p:sldId id="286" r:id="rId13"/>
    <p:sldId id="280" r:id="rId14"/>
    <p:sldId id="292" r:id="rId15"/>
    <p:sldId id="293" r:id="rId16"/>
    <p:sldId id="288" r:id="rId17"/>
    <p:sldId id="289" r:id="rId18"/>
    <p:sldId id="276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2936EA-8E54-4635-AB06-A078D34A0606}" v="4" dt="2026-07-09T06:44:49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tan Shakhapure" userId="1d97ffe4153d28de" providerId="LiveId" clId="{B1BDD94B-98B0-4326-84CB-7E1D9A50B409}"/>
    <pc:docChg chg="undo custSel addSld delSld modSld">
      <pc:chgData name="Chetan Shakhapure" userId="1d97ffe4153d28de" providerId="LiveId" clId="{B1BDD94B-98B0-4326-84CB-7E1D9A50B409}" dt="2026-07-09T10:07:37.350" v="390" actId="20577"/>
      <pc:docMkLst>
        <pc:docMk/>
      </pc:docMkLst>
      <pc:sldChg chg="modSp mod">
        <pc:chgData name="Chetan Shakhapure" userId="1d97ffe4153d28de" providerId="LiveId" clId="{B1BDD94B-98B0-4326-84CB-7E1D9A50B409}" dt="2026-07-09T10:07:37.350" v="390" actId="20577"/>
        <pc:sldMkLst>
          <pc:docMk/>
          <pc:sldMk cId="0" sldId="257"/>
        </pc:sldMkLst>
        <pc:spChg chg="mod">
          <ac:chgData name="Chetan Shakhapure" userId="1d97ffe4153d28de" providerId="LiveId" clId="{B1BDD94B-98B0-4326-84CB-7E1D9A50B409}" dt="2026-07-09T10:07:37.350" v="390" actId="20577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mod">
        <pc:chgData name="Chetan Shakhapure" userId="1d97ffe4153d28de" providerId="LiveId" clId="{B1BDD94B-98B0-4326-84CB-7E1D9A50B409}" dt="2026-07-09T06:53:14.408" v="309" actId="1076"/>
        <pc:sldMkLst>
          <pc:docMk/>
          <pc:sldMk cId="0" sldId="278"/>
        </pc:sldMkLst>
        <pc:spChg chg="mod">
          <ac:chgData name="Chetan Shakhapure" userId="1d97ffe4153d28de" providerId="LiveId" clId="{B1BDD94B-98B0-4326-84CB-7E1D9A50B409}" dt="2026-07-09T06:53:14.408" v="309" actId="1076"/>
          <ac:spMkLst>
            <pc:docMk/>
            <pc:sldMk cId="0" sldId="278"/>
            <ac:spMk id="2" creationId="{00000000-0000-0000-0000-000000000000}"/>
          </ac:spMkLst>
        </pc:spChg>
        <pc:spChg chg="mod">
          <ac:chgData name="Chetan Shakhapure" userId="1d97ffe4153d28de" providerId="LiveId" clId="{B1BDD94B-98B0-4326-84CB-7E1D9A50B409}" dt="2026-07-09T06:51:14.174" v="281" actId="20577"/>
          <ac:spMkLst>
            <pc:docMk/>
            <pc:sldMk cId="0" sldId="278"/>
            <ac:spMk id="3" creationId="{00000000-0000-0000-0000-000000000000}"/>
          </ac:spMkLst>
        </pc:spChg>
        <pc:spChg chg="add del mod ord">
          <ac:chgData name="Chetan Shakhapure" userId="1d97ffe4153d28de" providerId="LiveId" clId="{B1BDD94B-98B0-4326-84CB-7E1D9A50B409}" dt="2026-07-09T06:53:00.205" v="307" actId="11529"/>
          <ac:spMkLst>
            <pc:docMk/>
            <pc:sldMk cId="0" sldId="278"/>
            <ac:spMk id="4" creationId="{22A341D8-D2F2-4746-0B5B-6535C4047C3F}"/>
          </ac:spMkLst>
        </pc:spChg>
      </pc:sldChg>
      <pc:sldChg chg="modSp mod">
        <pc:chgData name="Chetan Shakhapure" userId="1d97ffe4153d28de" providerId="LiveId" clId="{B1BDD94B-98B0-4326-84CB-7E1D9A50B409}" dt="2026-07-09T10:00:14.125" v="321" actId="1076"/>
        <pc:sldMkLst>
          <pc:docMk/>
          <pc:sldMk cId="0" sldId="280"/>
        </pc:sldMkLst>
        <pc:spChg chg="mod">
          <ac:chgData name="Chetan Shakhapure" userId="1d97ffe4153d28de" providerId="LiveId" clId="{B1BDD94B-98B0-4326-84CB-7E1D9A50B409}" dt="2026-07-09T10:00:08.547" v="320" actId="1076"/>
          <ac:spMkLst>
            <pc:docMk/>
            <pc:sldMk cId="0" sldId="280"/>
            <ac:spMk id="278" creationId="{00000000-0000-0000-0000-000000000000}"/>
          </ac:spMkLst>
        </pc:spChg>
        <pc:spChg chg="mod">
          <ac:chgData name="Chetan Shakhapure" userId="1d97ffe4153d28de" providerId="LiveId" clId="{B1BDD94B-98B0-4326-84CB-7E1D9A50B409}" dt="2026-07-09T10:00:14.125" v="321" actId="1076"/>
          <ac:spMkLst>
            <pc:docMk/>
            <pc:sldMk cId="0" sldId="280"/>
            <ac:spMk id="279" creationId="{00000000-0000-0000-0000-000000000000}"/>
          </ac:spMkLst>
        </pc:spChg>
        <pc:spChg chg="mod">
          <ac:chgData name="Chetan Shakhapure" userId="1d97ffe4153d28de" providerId="LiveId" clId="{B1BDD94B-98B0-4326-84CB-7E1D9A50B409}" dt="2026-07-09T09:58:29.695" v="310" actId="20577"/>
          <ac:spMkLst>
            <pc:docMk/>
            <pc:sldMk cId="0" sldId="280"/>
            <ac:spMk id="282" creationId="{00000000-0000-0000-0000-000000000000}"/>
          </ac:spMkLst>
        </pc:spChg>
      </pc:sldChg>
      <pc:sldChg chg="modSp mod">
        <pc:chgData name="Chetan Shakhapure" userId="1d97ffe4153d28de" providerId="LiveId" clId="{B1BDD94B-98B0-4326-84CB-7E1D9A50B409}" dt="2026-07-09T06:38:25.884" v="52" actId="20577"/>
        <pc:sldMkLst>
          <pc:docMk/>
          <pc:sldMk cId="0" sldId="281"/>
        </pc:sldMkLst>
        <pc:spChg chg="mod">
          <ac:chgData name="Chetan Shakhapure" userId="1d97ffe4153d28de" providerId="LiveId" clId="{B1BDD94B-98B0-4326-84CB-7E1D9A50B409}" dt="2026-07-09T06:38:25.884" v="52" actId="20577"/>
          <ac:spMkLst>
            <pc:docMk/>
            <pc:sldMk cId="0" sldId="281"/>
            <ac:spMk id="2" creationId="{00000000-0000-0000-0000-000000000000}"/>
          </ac:spMkLst>
        </pc:spChg>
      </pc:sldChg>
      <pc:sldChg chg="modSp mod">
        <pc:chgData name="Chetan Shakhapure" userId="1d97ffe4153d28de" providerId="LiveId" clId="{B1BDD94B-98B0-4326-84CB-7E1D9A50B409}" dt="2026-07-09T06:30:27.341" v="27"/>
        <pc:sldMkLst>
          <pc:docMk/>
          <pc:sldMk cId="0" sldId="285"/>
        </pc:sldMkLst>
        <pc:spChg chg="mod">
          <ac:chgData name="Chetan Shakhapure" userId="1d97ffe4153d28de" providerId="LiveId" clId="{B1BDD94B-98B0-4326-84CB-7E1D9A50B409}" dt="2026-07-09T06:30:27.341" v="27"/>
          <ac:spMkLst>
            <pc:docMk/>
            <pc:sldMk cId="0" sldId="285"/>
            <ac:spMk id="2" creationId="{00000000-0000-0000-0000-000000000000}"/>
          </ac:spMkLst>
        </pc:spChg>
      </pc:sldChg>
      <pc:sldChg chg="modSp mod">
        <pc:chgData name="Chetan Shakhapure" userId="1d97ffe4153d28de" providerId="LiveId" clId="{B1BDD94B-98B0-4326-84CB-7E1D9A50B409}" dt="2026-07-09T06:42:22.410" v="263" actId="1076"/>
        <pc:sldMkLst>
          <pc:docMk/>
          <pc:sldMk cId="0" sldId="286"/>
        </pc:sldMkLst>
        <pc:spChg chg="mod">
          <ac:chgData name="Chetan Shakhapure" userId="1d97ffe4153d28de" providerId="LiveId" clId="{B1BDD94B-98B0-4326-84CB-7E1D9A50B409}" dt="2026-07-09T06:42:22.410" v="263" actId="1076"/>
          <ac:spMkLst>
            <pc:docMk/>
            <pc:sldMk cId="0" sldId="286"/>
            <ac:spMk id="2" creationId="{00000000-0000-0000-0000-000000000000}"/>
          </ac:spMkLst>
        </pc:spChg>
        <pc:spChg chg="mod">
          <ac:chgData name="Chetan Shakhapure" userId="1d97ffe4153d28de" providerId="LiveId" clId="{B1BDD94B-98B0-4326-84CB-7E1D9A50B409}" dt="2026-07-09T06:42:22.410" v="263" actId="1076"/>
          <ac:spMkLst>
            <pc:docMk/>
            <pc:sldMk cId="0" sldId="286"/>
            <ac:spMk id="3" creationId="{00000000-0000-0000-0000-000000000000}"/>
          </ac:spMkLst>
        </pc:spChg>
      </pc:sldChg>
      <pc:sldChg chg="new del">
        <pc:chgData name="Chetan Shakhapure" userId="1d97ffe4153d28de" providerId="LiveId" clId="{B1BDD94B-98B0-4326-84CB-7E1D9A50B409}" dt="2026-07-09T06:34:24.746" v="42" actId="680"/>
        <pc:sldMkLst>
          <pc:docMk/>
          <pc:sldMk cId="545242618" sldId="294"/>
        </pc:sldMkLst>
      </pc:sldChg>
      <pc:sldChg chg="addSp delSp modSp new mod">
        <pc:chgData name="Chetan Shakhapure" userId="1d97ffe4153d28de" providerId="LiveId" clId="{B1BDD94B-98B0-4326-84CB-7E1D9A50B409}" dt="2026-07-09T10:06:23.390" v="389" actId="1076"/>
        <pc:sldMkLst>
          <pc:docMk/>
          <pc:sldMk cId="2255483104" sldId="294"/>
        </pc:sldMkLst>
        <pc:spChg chg="mod">
          <ac:chgData name="Chetan Shakhapure" userId="1d97ffe4153d28de" providerId="LiveId" clId="{B1BDD94B-98B0-4326-84CB-7E1D9A50B409}" dt="2026-07-09T10:06:02.580" v="384" actId="1076"/>
          <ac:spMkLst>
            <pc:docMk/>
            <pc:sldMk cId="2255483104" sldId="294"/>
            <ac:spMk id="2" creationId="{3B66BC11-F416-7DB2-D605-DBDAB20F537F}"/>
          </ac:spMkLst>
        </pc:spChg>
        <pc:spChg chg="del mod">
          <ac:chgData name="Chetan Shakhapure" userId="1d97ffe4153d28de" providerId="LiveId" clId="{B1BDD94B-98B0-4326-84CB-7E1D9A50B409}" dt="2026-07-09T10:04:33.349" v="328" actId="21"/>
          <ac:spMkLst>
            <pc:docMk/>
            <pc:sldMk cId="2255483104" sldId="294"/>
            <ac:spMk id="3" creationId="{BD2E5924-9CE3-BD81-F81A-7CAE7B18E15C}"/>
          </ac:spMkLst>
        </pc:spChg>
        <pc:picChg chg="add mod">
          <ac:chgData name="Chetan Shakhapure" userId="1d97ffe4153d28de" providerId="LiveId" clId="{B1BDD94B-98B0-4326-84CB-7E1D9A50B409}" dt="2026-07-09T10:06:23.390" v="389" actId="1076"/>
          <ac:picMkLst>
            <pc:docMk/>
            <pc:sldMk cId="2255483104" sldId="294"/>
            <ac:picMk id="5" creationId="{89DE4F81-ED51-70B1-8B6A-BB9B84C7159B}"/>
          </ac:picMkLst>
        </pc:picChg>
      </pc:sldChg>
      <pc:sldChg chg="new del">
        <pc:chgData name="Chetan Shakhapure" userId="1d97ffe4153d28de" providerId="LiveId" clId="{B1BDD94B-98B0-4326-84CB-7E1D9A50B409}" dt="2026-07-09T06:34:18.175" v="40" actId="680"/>
        <pc:sldMkLst>
          <pc:docMk/>
          <pc:sldMk cId="2723305903" sldId="294"/>
        </pc:sldMkLst>
      </pc:sldChg>
      <pc:sldChg chg="new del">
        <pc:chgData name="Chetan Shakhapure" userId="1d97ffe4153d28de" providerId="LiveId" clId="{B1BDD94B-98B0-4326-84CB-7E1D9A50B409}" dt="2026-07-09T10:01:42.369" v="323" actId="680"/>
        <pc:sldMkLst>
          <pc:docMk/>
          <pc:sldMk cId="3319612933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cs0787/contract-review-agent" TargetMode="External"/><Relationship Id="rId4" Type="http://schemas.openxmlformats.org/officeDocument/2006/relationships/hyperlink" Target="https://contract-analysis-agent.vercel.ap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</a:t>
            </a:r>
            <a:r>
              <a:rPr lang="en-US" b="1" i="1" dirty="0" err="1"/>
              <a:t>Agentic</a:t>
            </a:r>
            <a:r>
              <a:rPr lang="en-US" b="1" i="1" dirty="0"/>
              <a:t> AI with IBM Cloud and </a:t>
            </a:r>
            <a:r>
              <a:rPr lang="en-IN" b="1" i="1" dirty="0" err="1"/>
              <a:t>Watsonx</a:t>
            </a:r>
            <a:r>
              <a:rPr lang="en-IN" b="1" i="1" dirty="0"/>
              <a:t> AI</a:t>
            </a:r>
            <a:r>
              <a:rPr lang="en-US" b="1" i="1" dirty="0"/>
              <a:t>”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 panose="020F0502020204030204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 panose="02020603050405020304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272483222"/>
              </p:ext>
            </p:extLst>
          </p:nvPr>
        </p:nvGraphicFramePr>
        <p:xfrm>
          <a:off x="529186" y="2792322"/>
          <a:ext cx="11133627" cy="3266095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446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677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/>
                        <a:t>Student Name</a:t>
                      </a:r>
                      <a:endParaRPr sz="20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strike="noStrike" cap="none" dirty="0"/>
                        <a:t>Recent Passport Photo</a:t>
                      </a:r>
                      <a:endParaRPr sz="20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Email ID </a:t>
                      </a: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Mobile number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 panose="020F0502020204030204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  <a:sym typeface="Calibri" panose="020F0502020204030204"/>
                        </a:rPr>
                        <a:t>[WhatsApp] </a:t>
                      </a:r>
                      <a:endParaRPr sz="2000" b="0" i="0" u="none" strike="noStrike" cap="none">
                        <a:solidFill>
                          <a:srgbClr val="000000"/>
                        </a:solidFill>
                        <a:latin typeface="Arial" panose="020B0604020202020204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932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Chetan Ashok Shakhapure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chetanshakhapure@gmail.com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IN" sz="20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dirty="0"/>
                        <a:t>8080084253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206164" y="962997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Data Analytics</a:t>
            </a:r>
            <a:endParaRPr lang="en-IN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206164" y="543758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b="1" dirty="0"/>
              <a:t>Contract</a:t>
            </a:r>
            <a:r>
              <a:rPr lang="en-US" sz="2400" b="1" dirty="0"/>
              <a:t> Review Agent</a:t>
            </a:r>
            <a:endParaRPr lang="en-IN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67C97E-811D-17D8-E2D4-10B38CDAA5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85" t="4670" r="6679" b="21044"/>
          <a:stretch>
            <a:fillRect/>
          </a:stretch>
        </p:blipFill>
        <p:spPr>
          <a:xfrm>
            <a:off x="3670221" y="4358501"/>
            <a:ext cx="1388668" cy="14544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5F322C-668F-B713-0601-D8631013B817}"/>
              </a:ext>
            </a:extLst>
          </p:cNvPr>
          <p:cNvSpPr txBox="1"/>
          <p:nvPr/>
        </p:nvSpPr>
        <p:spPr>
          <a:xfrm>
            <a:off x="1206164" y="139525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/>
              <a:t>Project Live Url</a:t>
            </a:r>
            <a:r>
              <a:rPr lang="en-US" sz="2400" b="1"/>
              <a:t> – </a:t>
            </a:r>
            <a:r>
              <a:rPr lang="en-US" sz="2400">
                <a:hlinkClick r:id="rId4"/>
              </a:rPr>
              <a:t>https://contract-analysis-agent.vercel.app</a:t>
            </a:r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1A5A4-8D79-4088-4D63-AB0FF021AE73}"/>
              </a:ext>
            </a:extLst>
          </p:cNvPr>
          <p:cNvSpPr txBox="1"/>
          <p:nvPr/>
        </p:nvSpPr>
        <p:spPr>
          <a:xfrm>
            <a:off x="1206164" y="1792860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GitHub Link</a:t>
            </a:r>
            <a:r>
              <a:rPr lang="en-US" sz="2400" b="1" dirty="0"/>
              <a:t> –</a:t>
            </a:r>
            <a:r>
              <a:rPr lang="en-US" sz="2400" dirty="0"/>
              <a:t> </a:t>
            </a:r>
            <a:r>
              <a:rPr lang="en-US" sz="2400" dirty="0">
                <a:hlinkClick r:id="rId5"/>
              </a:rPr>
              <a:t>https://github.com/cs0787/contract-review-agent</a:t>
            </a: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2333" y="609030"/>
            <a:ext cx="11247334" cy="61324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Problem Statement – </a:t>
            </a:r>
            <a:r>
              <a:rPr lang="en-IN" sz="2000" dirty="0"/>
              <a:t>Developing an enterprise-grade AI solution for accurate contract risk analysis, compliance auditing, and policy redrafting using IBM </a:t>
            </a:r>
            <a:r>
              <a:rPr lang="en-IN" sz="2000" dirty="0" err="1"/>
              <a:t>watsonx.ai</a:t>
            </a:r>
            <a:r>
              <a:rPr lang="en-IN" sz="2000" dirty="0"/>
              <a:t>.</a:t>
            </a:r>
          </a:p>
          <a:p>
            <a:r>
              <a:rPr lang="en-IN" sz="2000" b="1" dirty="0"/>
              <a:t>The Challenge</a:t>
            </a:r>
          </a:p>
          <a:p>
            <a:r>
              <a:rPr lang="en-IN" sz="2000" dirty="0"/>
              <a:t>Organizations deal with thousands of legal documents every year, including Non-Disclosure Agreements (NDAs), employment contracts, vendor agreements, service contracts, purchase agreements, compliance policies, and internal company policies. Reviewing these documents manually is a time-consuming process that requires legal expertise and significant effort.</a:t>
            </a:r>
          </a:p>
          <a:p>
            <a:r>
              <a:rPr lang="en-IN" sz="2000" dirty="0"/>
              <a:t>Many businesses, startups, HR teams, procurement departments, and legal professionals face challenges such as:</a:t>
            </a:r>
          </a:p>
          <a:p>
            <a:endParaRPr lang="en-IN" sz="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Missing mandatory legal clauses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Ambiguous or confusing language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Outdated regulatory references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Human review is often slow, expensive, and prone to oversight, especially when handling a large number of contracts.</a:t>
            </a:r>
          </a:p>
          <a:p>
            <a:endParaRPr lang="en-IN" sz="1050" dirty="0"/>
          </a:p>
          <a:p>
            <a:r>
              <a:rPr lang="en-IN" sz="2000" b="1" dirty="0"/>
              <a:t>The Objective</a:t>
            </a:r>
          </a:p>
          <a:p>
            <a:endParaRPr lang="en-IN" sz="800" dirty="0"/>
          </a:p>
          <a:p>
            <a:r>
              <a:rPr lang="en-IN" sz="2000" dirty="0"/>
              <a:t>Build an AI-powered Contract Review Agent that automatically </a:t>
            </a:r>
            <a:r>
              <a:rPr lang="en-IN" sz="2000" dirty="0" err="1"/>
              <a:t>analyzes</a:t>
            </a:r>
            <a:r>
              <a:rPr lang="en-IN" sz="2000" dirty="0"/>
              <a:t> uploaded legal documents, identifies incorrect or risky clauses, checks compliance with company policies, and provides suggestions to improve clarity, accuracy, and legal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8594" y="183092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9072" y="808208"/>
            <a:ext cx="11095228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750" dirty="0"/>
              <a:t>The proposed solution is an intelligent AI-powered Contract Review Agent developed using IBM watsonx.ai Studio, IBM Granite Models, Retrieval-Augmented Generation (RAG), and enterprise knowledge bases.</a:t>
            </a:r>
          </a:p>
          <a:p>
            <a:r>
              <a:rPr lang="en-IN" sz="1750" dirty="0"/>
              <a:t>Users upload legal documents such as NDAs, contracts, company policies, or agreements through a simple interface. The uploaded document is securely processed, </a:t>
            </a:r>
            <a:r>
              <a:rPr lang="en-IN" sz="1750" dirty="0" err="1"/>
              <a:t>analyzed</a:t>
            </a:r>
            <a:r>
              <a:rPr lang="en-IN" sz="1750" dirty="0"/>
              <a:t>, and compared against trusted legal guidelines, organizational standards, and predefined company policies.</a:t>
            </a:r>
          </a:p>
          <a:p>
            <a:r>
              <a:rPr lang="en-IN" sz="1750" dirty="0"/>
              <a:t>The system first extracts document text and performs semantic analysis using IBM Granite language models. Through a Retrieval-Augmented Generation (RAG) architecture, the agent references company-approved legal documents and policy knowledge bases to ensure accurate, context-aware analysis.</a:t>
            </a:r>
            <a:br>
              <a:rPr lang="en-IN" sz="1750" dirty="0"/>
            </a:br>
            <a:endParaRPr lang="en-IN" sz="900" dirty="0"/>
          </a:p>
          <a:p>
            <a:r>
              <a:rPr lang="en-IN" sz="1750" b="1" dirty="0"/>
              <a:t>The final review report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dirty="0"/>
              <a:t>Executive Summary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dirty="0"/>
              <a:t>Compliance Status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dirty="0"/>
              <a:t>Clause-by-Clause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dirty="0"/>
              <a:t>Risk Level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dirty="0"/>
              <a:t>Suggested Corrections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dirty="0"/>
              <a:t>Missing Clauses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750" dirty="0"/>
              <a:t>Overall Contract Score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800" dirty="0"/>
          </a:p>
          <a:p>
            <a:r>
              <a:rPr lang="en-IN" sz="1750" dirty="0"/>
              <a:t>IBM </a:t>
            </a:r>
            <a:r>
              <a:rPr lang="en-IN" sz="1750" dirty="0" err="1"/>
              <a:t>watsonx.ai.studio</a:t>
            </a:r>
            <a:r>
              <a:rPr lang="en-IN" sz="1750" dirty="0"/>
              <a:t> coordinates the workflow, while IBM Granite models provide advanced reasoning, summarization, legal analysis, and natural language generation.</a:t>
            </a:r>
          </a:p>
          <a:p>
            <a:r>
              <a:rPr lang="en-IN" sz="1750" dirty="0"/>
              <a:t>The result is a scalable, enterprise-ready AI assistant capable of reducing contract review time from hours to minutes while improving consistency, accuracy, and compliance.</a:t>
            </a:r>
          </a:p>
          <a:p>
            <a:endParaRPr lang="en-IN" sz="1750" dirty="0"/>
          </a:p>
        </p:txBody>
      </p:sp>
      <p:sp>
        <p:nvSpPr>
          <p:cNvPr id="3" name="TextBox 2"/>
          <p:cNvSpPr txBox="1"/>
          <p:nvPr/>
        </p:nvSpPr>
        <p:spPr>
          <a:xfrm>
            <a:off x="245872" y="284988"/>
            <a:ext cx="7214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Proposed Solution -</a:t>
            </a:r>
            <a:endParaRPr lang="en-IN" sz="28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6902" y="484632"/>
            <a:ext cx="712317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/>
              <a:t>Technology Used</a:t>
            </a:r>
            <a:endParaRPr lang="en-IN" sz="28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56054" y="1207008"/>
            <a:ext cx="11287760" cy="50167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Granite Model (Granite-3.0-8B-Instruct)</a:t>
            </a:r>
            <a:r>
              <a:rPr lang="en-IN" sz="2000" dirty="0"/>
              <a:t> – Performs contract understanding, legal </a:t>
            </a:r>
          </a:p>
          <a:p>
            <a:r>
              <a:rPr lang="en-IN" sz="2000" dirty="0"/>
              <a:t>     reasoning, clause analysis, summarization, and recommendation generation.</a:t>
            </a:r>
            <a:br>
              <a:rPr lang="en-IN" sz="2000" dirty="0"/>
            </a:b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watsonx.ai</a:t>
            </a:r>
            <a:r>
              <a:rPr lang="en-IN" sz="2000" dirty="0"/>
              <a:t> – Powers the foundation model used by the agent for intelligent contract review  and natural language understanding. </a:t>
            </a:r>
            <a:br>
              <a:rPr lang="en-IN" sz="2000" dirty="0"/>
            </a:b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RAG –</a:t>
            </a:r>
            <a:r>
              <a:rPr lang="en-IN" sz="2000" dirty="0"/>
              <a:t> Grounds the model in your uploaded document and live search results first, then generates contract reviews, eliminating AI hallucinations and making compliance audits verifiable.</a:t>
            </a:r>
            <a:br>
              <a:rPr lang="en-IN" sz="2000" dirty="0"/>
            </a:b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Cloud</a:t>
            </a:r>
            <a:r>
              <a:rPr lang="en-IN" sz="2000" dirty="0"/>
              <a:t> – Provides secure cloud infrastructure for hosting and running the agent.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 err="1"/>
              <a:t>Neon.tech</a:t>
            </a:r>
            <a:r>
              <a:rPr lang="en-IN" sz="2000" b="1" dirty="0"/>
              <a:t> Serverless PostgreSQL</a:t>
            </a:r>
            <a:r>
              <a:rPr lang="en-IN" sz="2000" dirty="0"/>
              <a:t> – Provides stateless session persistence, securing raw document texts, calculated vector weights, and conversation histories.</a:t>
            </a:r>
            <a:br>
              <a:rPr lang="en-IN" sz="2000" dirty="0"/>
            </a:b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IBM BOB</a:t>
            </a:r>
            <a:r>
              <a:rPr lang="en-IN" sz="2000" dirty="0"/>
              <a:t> – For Assistance in Coding and building the frontend of the Agent.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/>
          <p:nvPr/>
        </p:nvSpPr>
        <p:spPr>
          <a:xfrm>
            <a:off x="217060" y="268883"/>
            <a:ext cx="7309238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IN" sz="2400" b="1" dirty="0"/>
              <a:t>CONTRX // AI Contract Review Agent Components</a:t>
            </a:r>
          </a:p>
          <a:p>
            <a:pPr>
              <a:buClr>
                <a:srgbClr val="051D3A"/>
              </a:buClr>
              <a:buSzPts val="3500"/>
            </a:pPr>
            <a:endParaRPr sz="2400" b="1" dirty="0">
              <a:sym typeface="Times New Roman" panose="02020603050405020304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 panose="020F0502020204030204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6836" y="948690"/>
            <a:ext cx="1093860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1) Input Interface (Chat &amp; File Upload)</a:t>
            </a:r>
          </a:p>
          <a:p>
            <a:r>
              <a:rPr lang="en-IN" sz="1800" dirty="0"/>
              <a:t>Modern, responsive interface where users can drag and drop draft corporate agreements (PDF, DOCX, TXT), paste clipboard text, or enter specific follow-up legal queries.</a:t>
            </a:r>
            <a:br>
              <a:rPr lang="en-IN" sz="1800" dirty="0"/>
            </a:br>
            <a:endParaRPr lang="en-IN" sz="1800" dirty="0"/>
          </a:p>
          <a:p>
            <a:r>
              <a:rPr lang="en-IN" sz="1800" b="1" dirty="0"/>
              <a:t>2) IBM </a:t>
            </a:r>
            <a:r>
              <a:rPr lang="en-IN" sz="1800" b="1" dirty="0" err="1"/>
              <a:t>watsonx</a:t>
            </a:r>
            <a:r>
              <a:rPr lang="en-IN" sz="1800" b="1" dirty="0"/>
              <a:t> AI Agent</a:t>
            </a:r>
          </a:p>
          <a:p>
            <a:r>
              <a:rPr lang="en-IN" sz="1800" dirty="0"/>
              <a:t>Processes the local document context and user prompts using Granite models to generate professional legal risk assessments, policy gap analyses, and actionable redrafts.</a:t>
            </a:r>
          </a:p>
          <a:p>
            <a:endParaRPr lang="en-IN" sz="1800" dirty="0"/>
          </a:p>
          <a:p>
            <a:r>
              <a:rPr lang="en-IN" sz="1800" b="1" dirty="0"/>
              <a:t>3) IBM Granite Model - Granite-3.0-8B-Instruct</a:t>
            </a:r>
            <a:r>
              <a:rPr lang="en-IN" sz="1800" dirty="0"/>
              <a:t> </a:t>
            </a:r>
          </a:p>
          <a:p>
            <a:r>
              <a:rPr lang="en-IN" sz="1800" dirty="0"/>
              <a:t> Fast, highly efficient, and instruction-tuned model selected for legal terminology reasoning, structuring compliance logic, and drafting clear contractual amendments.</a:t>
            </a:r>
          </a:p>
          <a:p>
            <a:endParaRPr lang="en-IN" sz="1800" dirty="0"/>
          </a:p>
          <a:p>
            <a:r>
              <a:rPr lang="en-IN" sz="1800" b="1" dirty="0"/>
              <a:t>5) Document Ingestion &amp; Vector Index</a:t>
            </a:r>
          </a:p>
          <a:p>
            <a:r>
              <a:rPr lang="en-IN" sz="1800" dirty="0"/>
              <a:t>Automatically parses uploaded documents on the fly using </a:t>
            </a:r>
            <a:r>
              <a:rPr lang="en-IN" sz="1800" dirty="0" err="1"/>
              <a:t>pypdf</a:t>
            </a:r>
            <a:r>
              <a:rPr lang="en-IN" sz="1800" dirty="0"/>
              <a:t> and python-docx, segmenting text into overlapping semantic chunks and caching them in-memory for local vector retrieval.</a:t>
            </a:r>
          </a:p>
          <a:p>
            <a:endParaRPr lang="en-IN" sz="1800" dirty="0"/>
          </a:p>
          <a:p>
            <a:r>
              <a:rPr lang="en-IN" sz="1800" b="1" dirty="0"/>
              <a:t>6) Live Web Search Integration (</a:t>
            </a:r>
            <a:r>
              <a:rPr lang="en-IN" sz="1800" b="1" dirty="0" err="1"/>
              <a:t>Tavily</a:t>
            </a:r>
            <a:r>
              <a:rPr lang="en-IN" sz="1800" b="1" dirty="0"/>
              <a:t> Search)</a:t>
            </a:r>
          </a:p>
          <a:p>
            <a:r>
              <a:rPr lang="en-IN" sz="1800" dirty="0"/>
              <a:t>A background search component that crawls the web for live, real-world statutory updates, guidelines, and compliance standards, cross-referencing external facts to prevent model hallucinations.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endParaRPr sz="2400" b="1" dirty="0">
              <a:sym typeface="Times New Roman" panose="02020603050405020304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1DCAC3-6BC3-2595-406F-590A641A96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4978" y="81499"/>
            <a:ext cx="11309432" cy="67765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21774F-820E-12DA-E2AA-D33E7BE74AA1}"/>
              </a:ext>
            </a:extLst>
          </p:cNvPr>
          <p:cNvSpPr txBox="1"/>
          <p:nvPr/>
        </p:nvSpPr>
        <p:spPr>
          <a:xfrm>
            <a:off x="10490819" y="1796921"/>
            <a:ext cx="3691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800" b="1" dirty="0"/>
              <a:t>-</a:t>
            </a:r>
            <a:endParaRPr lang="en-US" sz="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BC11-F416-7DB2-D605-DBDAB20F5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220338" y="106657"/>
            <a:ext cx="2974554" cy="806955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  <a:t>File upload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DE4F81-ED51-70B1-8B6A-BB9B84C71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615" y="1128979"/>
            <a:ext cx="5476658" cy="546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483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207390" y="185794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dirty="0">
                <a:sym typeface="Times New Roman" panose="02020603050405020304"/>
              </a:rPr>
              <a:t>Prompt with output Screenshot: 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EA866-7C2E-9439-04DA-EE0E0702CC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1" r="1771" b="2975"/>
          <a:stretch>
            <a:fillRect/>
          </a:stretch>
        </p:blipFill>
        <p:spPr>
          <a:xfrm>
            <a:off x="321388" y="576429"/>
            <a:ext cx="11335468" cy="624448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/>
          <p:cNvSpPr/>
          <p:nvPr/>
        </p:nvSpPr>
        <p:spPr>
          <a:xfrm>
            <a:off x="279465" y="2089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dirty="0">
                <a:solidFill>
                  <a:schemeClr val="dk1"/>
                </a:solidFill>
              </a:rPr>
              <a:t>Token Usage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CEB1E-7B52-BD80-DAAC-197A3C7AC5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696" b="25980"/>
          <a:stretch>
            <a:fillRect/>
          </a:stretch>
        </p:blipFill>
        <p:spPr>
          <a:xfrm>
            <a:off x="660400" y="1489909"/>
            <a:ext cx="4940300" cy="45490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B11569-6516-58F3-FE00-8C27A7E3B1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201" b="32121"/>
          <a:stretch>
            <a:fillRect/>
          </a:stretch>
        </p:blipFill>
        <p:spPr>
          <a:xfrm>
            <a:off x="5810986" y="1489909"/>
            <a:ext cx="5934525" cy="39710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696889-DF7C-4CD8-0237-20FFBDE913DB}"/>
              </a:ext>
            </a:extLst>
          </p:cNvPr>
          <p:cNvSpPr txBox="1"/>
          <p:nvPr/>
        </p:nvSpPr>
        <p:spPr>
          <a:xfrm>
            <a:off x="533400" y="977900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 Prompt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ED5C82-2070-5FC4-C876-353D37735E72}"/>
              </a:ext>
            </a:extLst>
          </p:cNvPr>
          <p:cNvSpPr txBox="1"/>
          <p:nvPr/>
        </p:nvSpPr>
        <p:spPr>
          <a:xfrm>
            <a:off x="8216900" y="977900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Prompt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475488" y="1167492"/>
            <a:ext cx="7353808" cy="5407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Role of Agentic AI in Contract Review Agent </a:t>
            </a:r>
            <a:r>
              <a:rPr lang="en-US" sz="1800" b="1" dirty="0">
                <a:sym typeface="Wingdings" panose="05000000000000000000" pitchFamily="2" charset="2"/>
              </a:rPr>
              <a:t></a:t>
            </a:r>
            <a:endParaRPr lang="en-US" sz="1800" b="1" dirty="0"/>
          </a:p>
          <a:p>
            <a:endParaRPr lang="en-US" sz="1800" b="1" dirty="0"/>
          </a:p>
          <a:p>
            <a:pPr algn="just"/>
            <a:r>
              <a:rPr lang="en-IN" sz="1800" dirty="0"/>
              <a:t>Agentic AI enables the Contract Review Agent to perform intelligent and autonomous legal document analysis rather than simply responding to user prompts. When a user uploads a contract, the agent independently reads the document, understands its legal context, evaluates clauses, identifies potential risks, verifies compliance with organizational guidelines, and generates actionable recommendations.</a:t>
            </a:r>
          </a:p>
          <a:p>
            <a:r>
              <a:rPr lang="en-IN" sz="1800" dirty="0"/>
              <a:t>The agent combines information from the uploaded document with the knowledge stored in the organizational knowledge base, allowing it to produce context-aware contract reviews. It explains identified issues in simple language, recommends stronger legal wording where necessary, and prepares a structured review report without requiring manual intervention.</a:t>
            </a:r>
          </a:p>
          <a:p>
            <a:r>
              <a:rPr lang="en-IN" sz="1800" dirty="0"/>
              <a:t>By automating repetitive legal review tasks, Agentic AI helps organizations improve document quality, reduce review time, minimize legal risks, and maintain consistency across contracts.</a:t>
            </a:r>
          </a:p>
          <a:p>
            <a:endParaRPr lang="en-US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613B7-C1B9-F503-8ABC-7C496954AC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05" r="9430" b="-5890"/>
          <a:stretch>
            <a:fillRect/>
          </a:stretch>
        </p:blipFill>
        <p:spPr>
          <a:xfrm>
            <a:off x="8051799" y="575851"/>
            <a:ext cx="3779013" cy="61424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9648" y="782344"/>
            <a:ext cx="690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/>
          <p:cNvSpPr txBox="1"/>
          <p:nvPr/>
        </p:nvSpPr>
        <p:spPr>
          <a:xfrm>
            <a:off x="649649" y="1536618"/>
            <a:ext cx="1096110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Serverless Relational RAG Design:</a:t>
            </a:r>
            <a:r>
              <a:rPr lang="en-IN" sz="2000" dirty="0"/>
              <a:t> Rather than maintaining a heavy, expensive vector database, the application serializes vector embeddings as JSON and performs pure-Python similarity matching, maintaining low resource use</a:t>
            </a:r>
            <a:br>
              <a:rPr lang="en-IN" sz="2000" dirty="0"/>
            </a:b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Stateless Resiliency:</a:t>
            </a:r>
            <a:r>
              <a:rPr lang="en-IN" sz="2000" dirty="0"/>
              <a:t> Engineered with an abstracted state layer using Neon Postgres, enabling </a:t>
            </a:r>
            <a:r>
              <a:rPr lang="en-IN" sz="2000" dirty="0" err="1"/>
              <a:t>Vercel</a:t>
            </a:r>
            <a:r>
              <a:rPr lang="en-IN" sz="2000" dirty="0"/>
              <a:t> to recycle containers freely without dropping active chat histories or text context.</a:t>
            </a:r>
            <a:br>
              <a:rPr lang="en-IN" sz="2000" dirty="0"/>
            </a:b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Dual-Grounded Validation:</a:t>
            </a:r>
            <a:r>
              <a:rPr lang="en-IN" sz="2000" dirty="0"/>
              <a:t> Incorporates a custom-routed background crawler (</a:t>
            </a:r>
            <a:r>
              <a:rPr lang="en-IN" sz="2000" dirty="0" err="1"/>
              <a:t>Tavily</a:t>
            </a:r>
            <a:r>
              <a:rPr lang="en-IN" sz="2000" dirty="0"/>
              <a:t> Search API) to cross-reference static document clauses against up-to-date legal regulations, mitigating LLM hallucinations.</a:t>
            </a:r>
            <a:br>
              <a:rPr lang="en-IN" sz="2000" dirty="0"/>
            </a:b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Instruction-Tuned Legal Persona:</a:t>
            </a:r>
            <a:r>
              <a:rPr lang="en-IN" sz="2000" dirty="0"/>
              <a:t> Programmed around IBM's Granite safety directives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326358" y="5626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 panose="02020603050405020304"/>
              <a:buNone/>
            </a:pPr>
            <a:r>
              <a:rPr lang="en-US" sz="2800" b="1" dirty="0">
                <a:sym typeface="Times New Roman" panose="02020603050405020304"/>
              </a:rPr>
              <a:t>Future Scope </a:t>
            </a:r>
            <a:endParaRPr sz="2800" b="1" dirty="0">
              <a:sym typeface="Times New Roman" panose="02020603050405020304"/>
            </a:endParaRPr>
          </a:p>
        </p:txBody>
      </p:sp>
      <p:sp>
        <p:nvSpPr>
          <p:cNvPr id="279" name="Google Shape;279;p18"/>
          <p:cNvSpPr/>
          <p:nvPr/>
        </p:nvSpPr>
        <p:spPr>
          <a:xfrm>
            <a:off x="733979" y="1696488"/>
            <a:ext cx="11232004" cy="450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lvl="0" indent="-342900">
              <a:lnSpc>
                <a:spcPct val="162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400" dirty="0"/>
              <a:t>Support multilingual legal document analysis. </a:t>
            </a:r>
          </a:p>
          <a:p>
            <a:pPr marL="342900" lvl="0" indent="-342900">
              <a:lnSpc>
                <a:spcPct val="162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400" dirty="0"/>
              <a:t>Compare different versions of contracts to identify changes. </a:t>
            </a:r>
          </a:p>
          <a:p>
            <a:pPr marL="342900" lvl="0" indent="-342900">
              <a:lnSpc>
                <a:spcPct val="162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400" dirty="0"/>
              <a:t>Generate AI-based legal risk scores for uploaded agreements. </a:t>
            </a:r>
          </a:p>
          <a:p>
            <a:pPr marL="342900" lvl="0" indent="-342900">
              <a:lnSpc>
                <a:spcPct val="162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400" dirty="0"/>
              <a:t>Integrate with digital signature platforms for end-to-end contract management. </a:t>
            </a:r>
          </a:p>
          <a:p>
            <a:pPr marL="342900" lvl="0" indent="-342900">
              <a:lnSpc>
                <a:spcPct val="162000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IN" sz="2400" dirty="0"/>
              <a:t>Expand compliance verification for standards such as GDPR, ISO, HIPAA, and other regulatory frameworks. </a:t>
            </a:r>
          </a:p>
        </p:txBody>
      </p:sp>
      <p:sp>
        <p:nvSpPr>
          <p:cNvPr id="280" name="Google Shape;280;p18"/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1" name="Google Shape;281;p18"/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2" name="Google Shape;282;p18"/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 panose="02020603050405020304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118225-2966-D5E1-7F7F-5BB733E01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+mj-lt"/>
              </a:rPr>
              <a:t>Completion Certificate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89FA8-51DE-8AF7-E46E-BFB1FFACC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60A1AB-2A30-BA65-F056-1ACB0A722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3906" y="1107620"/>
            <a:ext cx="8550461" cy="5309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132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FAAB3E-641C-598C-F47F-B32041F35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8028"/>
          </a:xfrm>
        </p:spPr>
        <p:txBody>
          <a:bodyPr>
            <a:normAutofit fontScale="90000"/>
          </a:bodyPr>
          <a:lstStyle/>
          <a:p>
            <a:r>
              <a:rPr lang="en-IN" dirty="0"/>
              <a:t>IBM BOB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5F386-55CB-18D0-E599-519037AA7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739" y="1187533"/>
            <a:ext cx="8443009" cy="521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167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94A09B-A7CA-B411-0182-C0A40949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725" y="1213281"/>
            <a:ext cx="7066327" cy="530553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 panose="020B0604020202020204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2209E8-B8BE-6FAC-43F5-630F0E64E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43" y="1200580"/>
            <a:ext cx="7148557" cy="535165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1111</Words>
  <Application>Microsoft Office PowerPoint</Application>
  <PresentationFormat>Widescreen</PresentationFormat>
  <Paragraphs>99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File upload section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Completion Certificate</vt:lpstr>
      <vt:lpstr>IBM BOB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Chetan Shakhapure</cp:lastModifiedBy>
  <cp:revision>103</cp:revision>
  <dcterms:created xsi:type="dcterms:W3CDTF">2025-07-08T05:06:00Z</dcterms:created>
  <dcterms:modified xsi:type="dcterms:W3CDTF">2026-07-09T10:07:46Z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5A4DF30BFFB94ACDB1C176C49702DBC3_12</vt:lpwstr>
  </property>
</Properties>
</file>